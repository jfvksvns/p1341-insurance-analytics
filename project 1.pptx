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1" ContentType="image/jpe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5000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282459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866998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CF74C9-6045-4156-B09A-298613CEDDCE}" type="datetimeFigureOut">
              <a:rPr lang="en-IN" smtClean="0"/>
              <a:t>26-07-2026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56870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CF74C9-6045-4156-B09A-298613CEDDCE}" type="datetimeFigureOut">
              <a:rPr lang="en-IN" smtClean="0"/>
              <a:t>26-07-2026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51651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47165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253177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84197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ACF74C9-6045-4156-B09A-298613CEDDCE}" type="datetimeFigureOut">
              <a:rPr lang="en-IN" smtClean="0"/>
              <a:t>26-07-2026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30858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ACF74C9-6045-4156-B09A-298613CEDDCE}" type="datetimeFigureOut">
              <a:rPr lang="en-IN" smtClean="0"/>
              <a:t>26-07-2026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169701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877660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21824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2823261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4001117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515576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396795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CF74C9-6045-4156-B09A-298613CEDDCE}" type="datetimeFigureOut">
              <a:rPr lang="en-IN" smtClean="0"/>
              <a:t>26-07-2026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7A99C3-932B-4F4D-A5B5-F3F79BB7BDCA}" type="slidenum">
              <a:rPr lang="en-IN" smtClean="0"/>
              <a:t>‹#›</a:t>
            </a:fld>
            <a:endParaRPr lang="en-IN"/>
          </a:p>
        </p:txBody>
      </p:sp>
    </p:spTree>
    <p:extLst>
      <p:ext uri="{BB962C8B-B14F-4D97-AF65-F5344CB8AC3E}">
        <p14:creationId xmlns:p14="http://schemas.microsoft.com/office/powerpoint/2010/main" val="110840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CF74C9-6045-4156-B09A-298613CEDDCE}" type="datetimeFigureOut">
              <a:rPr lang="en-IN" smtClean="0"/>
              <a:t>26-07-2026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07A99C3-932B-4F4D-A5B5-F3F79BB7BDCA}" type="slidenum">
              <a:rPr lang="en-IN" smtClean="0"/>
              <a:t>‹#›</a:t>
            </a:fld>
            <a:endParaRPr lang="en-IN"/>
          </a:p>
        </p:txBody>
      </p:sp>
    </p:spTree>
    <p:extLst>
      <p:ext uri="{BB962C8B-B14F-4D97-AF65-F5344CB8AC3E}">
        <p14:creationId xmlns:p14="http://schemas.microsoft.com/office/powerpoint/2010/main" val="212084318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quoteinspector.com/free-car-insurance-images/" TargetMode="External"/><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hyperlink" Target="https://creativecommons.org/licenses/by-nd/3.0/"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pxhere.com/en/photo/1622288" TargetMode="External"/><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hyperlink" Target="https://bsgrupo.com/bs-campus/blog/Excel-2016-Novedades-en-Visualizacion-de-Datos-1118" TargetMode="External"/><Relationship Id="rId7" Type="http://schemas.openxmlformats.org/officeDocument/2006/relationships/hyperlink" Target="https://www.analyticsinsight.net/data-analyst/how-to-install-tableau-public-and-desktop-free-2026-guide" TargetMode="External"/><Relationship Id="rId2" Type="http://schemas.openxmlformats.org/officeDocument/2006/relationships/image" Target="../media/image8.png"/><Relationship Id="rId1" Type="http://schemas.openxmlformats.org/officeDocument/2006/relationships/slideLayout" Target="../slideLayouts/slideLayout11.xml"/><Relationship Id="rId6" Type="http://schemas.openxmlformats.org/officeDocument/2006/relationships/image" Target="../media/image10.jpeg"/><Relationship Id="rId5" Type="http://schemas.openxmlformats.org/officeDocument/2006/relationships/hyperlink" Target="https://myworldofit.net/?tag=sql-server" TargetMode="External"/><Relationship Id="rId4" Type="http://schemas.openxmlformats.org/officeDocument/2006/relationships/image" Target="../media/image9.jpg"/><Relationship Id="rId9" Type="http://schemas.openxmlformats.org/officeDocument/2006/relationships/hyperlink" Target="https://iabac.org/blog/power-bi-componen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www.rawpixel.com/image/24418/free-illustration-image-objective-target-strategy" TargetMode="External"/><Relationship Id="rId2" Type="http://schemas.openxmlformats.org/officeDocument/2006/relationships/image" Target="../media/image12.1"/><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19A1-3F7D-4FF3-B6C3-C0BEC83A6887}"/>
              </a:ext>
            </a:extLst>
          </p:cNvPr>
          <p:cNvSpPr>
            <a:spLocks noGrp="1"/>
          </p:cNvSpPr>
          <p:nvPr>
            <p:ph type="ctrTitle"/>
          </p:nvPr>
        </p:nvSpPr>
        <p:spPr>
          <a:xfrm>
            <a:off x="143435" y="627529"/>
            <a:ext cx="10141979" cy="1344705"/>
          </a:xfrm>
        </p:spPr>
        <p:txBody>
          <a:bodyPr/>
          <a:lstStyle/>
          <a:p>
            <a:r>
              <a:rPr lang="en-IN" sz="4000" dirty="0">
                <a:solidFill>
                  <a:schemeClr val="bg1"/>
                </a:solidFill>
              </a:rPr>
              <a:t>BRANCH PERFORMANCE OVERVIEW</a:t>
            </a:r>
          </a:p>
        </p:txBody>
      </p:sp>
      <p:sp>
        <p:nvSpPr>
          <p:cNvPr id="3" name="Subtitle 2">
            <a:extLst>
              <a:ext uri="{FF2B5EF4-FFF2-40B4-BE49-F238E27FC236}">
                <a16:creationId xmlns:a16="http://schemas.microsoft.com/office/drawing/2014/main" id="{CF3D49DE-24E6-47DB-8C56-E6543153CB6D}"/>
              </a:ext>
            </a:extLst>
          </p:cNvPr>
          <p:cNvSpPr>
            <a:spLocks noGrp="1"/>
          </p:cNvSpPr>
          <p:nvPr>
            <p:ph type="subTitle" idx="1"/>
          </p:nvPr>
        </p:nvSpPr>
        <p:spPr>
          <a:xfrm>
            <a:off x="394447" y="2545976"/>
            <a:ext cx="9586166" cy="1792942"/>
          </a:xfrm>
        </p:spPr>
        <p:txBody>
          <a:bodyPr/>
          <a:lstStyle/>
          <a:p>
            <a:r>
              <a:rPr lang="en-IN" dirty="0"/>
              <a:t>Evaluating  new policies and retention trends</a:t>
            </a:r>
          </a:p>
        </p:txBody>
      </p:sp>
      <p:pic>
        <p:nvPicPr>
          <p:cNvPr id="11" name="Picture 10">
            <a:extLst>
              <a:ext uri="{FF2B5EF4-FFF2-40B4-BE49-F238E27FC236}">
                <a16:creationId xmlns:a16="http://schemas.microsoft.com/office/drawing/2014/main" id="{49EB9F1D-9F15-448D-8429-EC9D9EED562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489512" y="3369610"/>
            <a:ext cx="4495800" cy="3086100"/>
          </a:xfrm>
          <a:prstGeom prst="rect">
            <a:avLst/>
          </a:prstGeom>
        </p:spPr>
      </p:pic>
      <p:sp>
        <p:nvSpPr>
          <p:cNvPr id="12" name="TextBox 11">
            <a:extLst>
              <a:ext uri="{FF2B5EF4-FFF2-40B4-BE49-F238E27FC236}">
                <a16:creationId xmlns:a16="http://schemas.microsoft.com/office/drawing/2014/main" id="{7DF12946-B5D3-4A8B-A5BA-8699701E92E7}"/>
              </a:ext>
            </a:extLst>
          </p:cNvPr>
          <p:cNvSpPr txBox="1"/>
          <p:nvPr/>
        </p:nvSpPr>
        <p:spPr>
          <a:xfrm>
            <a:off x="3848100" y="4972050"/>
            <a:ext cx="4495800" cy="230832"/>
          </a:xfrm>
          <a:prstGeom prst="rect">
            <a:avLst/>
          </a:prstGeom>
          <a:noFill/>
        </p:spPr>
        <p:txBody>
          <a:bodyPr wrap="square" rtlCol="0">
            <a:spAutoFit/>
          </a:bodyPr>
          <a:lstStyle/>
          <a:p>
            <a:r>
              <a:rPr lang="en-IN" sz="900" dirty="0">
                <a:hlinkClick r:id="rId3" tooltip="https://www.quoteinspector.com/free-car-insurance-images/"/>
              </a:rPr>
              <a:t>This Photo</a:t>
            </a:r>
            <a:r>
              <a:rPr lang="en-IN" sz="900" dirty="0"/>
              <a:t> by Unknown Author is licensed under </a:t>
            </a:r>
            <a:r>
              <a:rPr lang="en-IN" sz="900" dirty="0">
                <a:hlinkClick r:id="rId4" tooltip="https://creativecommons.org/licenses/by-nd/3.0/"/>
              </a:rPr>
              <a:t>CC BY-ND</a:t>
            </a:r>
            <a:endParaRPr lang="en-IN" sz="900" dirty="0"/>
          </a:p>
        </p:txBody>
      </p:sp>
    </p:spTree>
    <p:extLst>
      <p:ext uri="{BB962C8B-B14F-4D97-AF65-F5344CB8AC3E}">
        <p14:creationId xmlns:p14="http://schemas.microsoft.com/office/powerpoint/2010/main" val="1610816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27B9-941D-4375-A8AF-796DF7E15C92}"/>
              </a:ext>
            </a:extLst>
          </p:cNvPr>
          <p:cNvSpPr>
            <a:spLocks noGrp="1"/>
          </p:cNvSpPr>
          <p:nvPr>
            <p:ph type="title"/>
          </p:nvPr>
        </p:nvSpPr>
        <p:spPr>
          <a:xfrm>
            <a:off x="349623" y="923364"/>
            <a:ext cx="8331108" cy="1129553"/>
          </a:xfrm>
        </p:spPr>
        <p:txBody>
          <a:bodyPr/>
          <a:lstStyle/>
          <a:p>
            <a:r>
              <a:rPr lang="en-IN" dirty="0">
                <a:solidFill>
                  <a:schemeClr val="bg1"/>
                </a:solidFill>
              </a:rPr>
              <a:t>TEAM INTRODUCTION</a:t>
            </a:r>
            <a:r>
              <a:rPr lang="en-IN" dirty="0"/>
              <a:t>	</a:t>
            </a:r>
          </a:p>
        </p:txBody>
      </p:sp>
      <p:sp>
        <p:nvSpPr>
          <p:cNvPr id="3" name="Text Placeholder 2">
            <a:extLst>
              <a:ext uri="{FF2B5EF4-FFF2-40B4-BE49-F238E27FC236}">
                <a16:creationId xmlns:a16="http://schemas.microsoft.com/office/drawing/2014/main" id="{EC516B34-7859-4619-B528-0104904FB13D}"/>
              </a:ext>
            </a:extLst>
          </p:cNvPr>
          <p:cNvSpPr>
            <a:spLocks noGrp="1"/>
          </p:cNvSpPr>
          <p:nvPr>
            <p:ph type="body" sz="half" idx="2"/>
          </p:nvPr>
        </p:nvSpPr>
        <p:spPr>
          <a:xfrm>
            <a:off x="502024" y="2303929"/>
            <a:ext cx="9478589" cy="2976283"/>
          </a:xfrm>
        </p:spPr>
        <p:txBody>
          <a:bodyPr>
            <a:normAutofit/>
          </a:bodyPr>
          <a:lstStyle/>
          <a:p>
            <a:r>
              <a:rPr lang="en-IN" dirty="0">
                <a:solidFill>
                  <a:srgbClr val="FFFF00"/>
                </a:solidFill>
              </a:rPr>
              <a:t>1.Samarth </a:t>
            </a:r>
            <a:r>
              <a:rPr lang="en-IN" dirty="0" err="1">
                <a:solidFill>
                  <a:srgbClr val="FFFF00"/>
                </a:solidFill>
              </a:rPr>
              <a:t>vitthal</a:t>
            </a:r>
            <a:r>
              <a:rPr lang="en-IN" dirty="0">
                <a:solidFill>
                  <a:srgbClr val="FFFF00"/>
                </a:solidFill>
              </a:rPr>
              <a:t> </a:t>
            </a:r>
            <a:r>
              <a:rPr lang="en-IN" dirty="0" err="1">
                <a:solidFill>
                  <a:srgbClr val="FFFF00"/>
                </a:solidFill>
              </a:rPr>
              <a:t>pawar</a:t>
            </a:r>
            <a:endParaRPr lang="en-IN" dirty="0">
              <a:solidFill>
                <a:srgbClr val="FFFF00"/>
              </a:solidFill>
            </a:endParaRPr>
          </a:p>
          <a:p>
            <a:r>
              <a:rPr lang="en-IN" dirty="0">
                <a:solidFill>
                  <a:srgbClr val="FFFF00"/>
                </a:solidFill>
              </a:rPr>
              <a:t>2. </a:t>
            </a:r>
            <a:r>
              <a:rPr lang="en-IN" dirty="0" err="1">
                <a:solidFill>
                  <a:srgbClr val="FFFF00"/>
                </a:solidFill>
              </a:rPr>
              <a:t>Janavi</a:t>
            </a:r>
            <a:r>
              <a:rPr lang="en-IN" dirty="0">
                <a:solidFill>
                  <a:srgbClr val="FFFF00"/>
                </a:solidFill>
              </a:rPr>
              <a:t> R</a:t>
            </a:r>
          </a:p>
          <a:p>
            <a:r>
              <a:rPr lang="en-IN" dirty="0">
                <a:solidFill>
                  <a:srgbClr val="FFFF00"/>
                </a:solidFill>
              </a:rPr>
              <a:t>3.M H Prashanth</a:t>
            </a:r>
          </a:p>
          <a:p>
            <a:r>
              <a:rPr lang="en-IN" dirty="0">
                <a:solidFill>
                  <a:srgbClr val="FFFF00"/>
                </a:solidFill>
              </a:rPr>
              <a:t>4.Abhinav Rajput</a:t>
            </a:r>
          </a:p>
          <a:p>
            <a:r>
              <a:rPr lang="en-IN" dirty="0">
                <a:solidFill>
                  <a:srgbClr val="FFFF00"/>
                </a:solidFill>
              </a:rPr>
              <a:t>5.Iti Singh</a:t>
            </a:r>
          </a:p>
          <a:p>
            <a:r>
              <a:rPr lang="en-IN" dirty="0">
                <a:solidFill>
                  <a:srgbClr val="FFFF00"/>
                </a:solidFill>
              </a:rPr>
              <a:t>6.Nilesh </a:t>
            </a:r>
            <a:r>
              <a:rPr lang="en-IN" dirty="0" err="1">
                <a:solidFill>
                  <a:srgbClr val="FFFF00"/>
                </a:solidFill>
              </a:rPr>
              <a:t>Dilip</a:t>
            </a:r>
            <a:r>
              <a:rPr lang="en-IN" dirty="0">
                <a:solidFill>
                  <a:srgbClr val="FFFF00"/>
                </a:solidFill>
              </a:rPr>
              <a:t> </a:t>
            </a:r>
            <a:r>
              <a:rPr lang="en-IN" dirty="0" err="1">
                <a:solidFill>
                  <a:srgbClr val="FFFF00"/>
                </a:solidFill>
              </a:rPr>
              <a:t>Sonwane</a:t>
            </a:r>
            <a:endParaRPr lang="en-IN" dirty="0">
              <a:solidFill>
                <a:srgbClr val="FFFF00"/>
              </a:solidFill>
            </a:endParaRPr>
          </a:p>
        </p:txBody>
      </p:sp>
      <p:pic>
        <p:nvPicPr>
          <p:cNvPr id="5" name="Picture 4">
            <a:extLst>
              <a:ext uri="{FF2B5EF4-FFF2-40B4-BE49-F238E27FC236}">
                <a16:creationId xmlns:a16="http://schemas.microsoft.com/office/drawing/2014/main" id="{04646E3A-0F0E-4D83-B660-39C183303BE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18044" y="2172820"/>
            <a:ext cx="4762500" cy="3238500"/>
          </a:xfrm>
          <a:prstGeom prst="rect">
            <a:avLst/>
          </a:prstGeom>
        </p:spPr>
      </p:pic>
    </p:spTree>
    <p:extLst>
      <p:ext uri="{BB962C8B-B14F-4D97-AF65-F5344CB8AC3E}">
        <p14:creationId xmlns:p14="http://schemas.microsoft.com/office/powerpoint/2010/main" val="2097770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FAC3-546E-4371-A717-B68F7A246EAF}"/>
              </a:ext>
            </a:extLst>
          </p:cNvPr>
          <p:cNvSpPr>
            <a:spLocks noGrp="1"/>
          </p:cNvSpPr>
          <p:nvPr>
            <p:ph type="title"/>
          </p:nvPr>
        </p:nvSpPr>
        <p:spPr/>
        <p:txBody>
          <a:bodyPr/>
          <a:lstStyle/>
          <a:p>
            <a:br>
              <a:rPr lang="en-IN" dirty="0"/>
            </a:br>
            <a:endParaRPr lang="en-IN" dirty="0"/>
          </a:p>
        </p:txBody>
      </p:sp>
      <p:sp>
        <p:nvSpPr>
          <p:cNvPr id="3" name="Text Placeholder 2">
            <a:extLst>
              <a:ext uri="{FF2B5EF4-FFF2-40B4-BE49-F238E27FC236}">
                <a16:creationId xmlns:a16="http://schemas.microsoft.com/office/drawing/2014/main" id="{38D15809-275A-4AC8-BAF1-F72239A309B7}"/>
              </a:ext>
            </a:extLst>
          </p:cNvPr>
          <p:cNvSpPr>
            <a:spLocks noGrp="1"/>
          </p:cNvSpPr>
          <p:nvPr>
            <p:ph type="body" sz="half" idx="2"/>
          </p:nvPr>
        </p:nvSpPr>
        <p:spPr>
          <a:xfrm>
            <a:off x="439271" y="403412"/>
            <a:ext cx="9541342" cy="3101788"/>
          </a:xfrm>
        </p:spPr>
        <p:txBody>
          <a:bodyPr/>
          <a:lstStyle/>
          <a:p>
            <a:r>
              <a:rPr lang="en-IN" sz="3200" dirty="0">
                <a:solidFill>
                  <a:schemeClr val="bg1"/>
                </a:solidFill>
              </a:rPr>
              <a:t>INSURANCE ANALYTICS : TOOLS USED</a:t>
            </a:r>
          </a:p>
          <a:p>
            <a:r>
              <a:rPr lang="en-IN" sz="2400" dirty="0">
                <a:solidFill>
                  <a:srgbClr val="FFFF00"/>
                </a:solidFill>
              </a:rPr>
              <a:t>1.EXCEL</a:t>
            </a:r>
          </a:p>
          <a:p>
            <a:r>
              <a:rPr lang="en-IN" sz="2400" dirty="0">
                <a:solidFill>
                  <a:srgbClr val="FFFF00"/>
                </a:solidFill>
              </a:rPr>
              <a:t>2.POWER BI</a:t>
            </a:r>
          </a:p>
          <a:p>
            <a:r>
              <a:rPr lang="en-IN" sz="2400" dirty="0">
                <a:solidFill>
                  <a:srgbClr val="FFFF00"/>
                </a:solidFill>
              </a:rPr>
              <a:t>3.TABLEAU</a:t>
            </a:r>
          </a:p>
          <a:p>
            <a:r>
              <a:rPr lang="en-IN" sz="2400" dirty="0">
                <a:solidFill>
                  <a:srgbClr val="FFFF00"/>
                </a:solidFill>
              </a:rPr>
              <a:t>4.MY SQL.</a:t>
            </a:r>
          </a:p>
        </p:txBody>
      </p:sp>
      <p:pic>
        <p:nvPicPr>
          <p:cNvPr id="5" name="Picture 4">
            <a:extLst>
              <a:ext uri="{FF2B5EF4-FFF2-40B4-BE49-F238E27FC236}">
                <a16:creationId xmlns:a16="http://schemas.microsoft.com/office/drawing/2014/main" id="{63476812-7430-40D2-81FA-84CDCCE50B2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1001" y="3567952"/>
            <a:ext cx="4065494" cy="2886636"/>
          </a:xfrm>
          <a:prstGeom prst="rect">
            <a:avLst/>
          </a:prstGeom>
        </p:spPr>
      </p:pic>
      <p:pic>
        <p:nvPicPr>
          <p:cNvPr id="8" name="Picture 7">
            <a:extLst>
              <a:ext uri="{FF2B5EF4-FFF2-40B4-BE49-F238E27FC236}">
                <a16:creationId xmlns:a16="http://schemas.microsoft.com/office/drawing/2014/main" id="{99E99CB3-D716-4AB4-830F-BA99E14B147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530165" y="2112309"/>
            <a:ext cx="2857500" cy="2324100"/>
          </a:xfrm>
          <a:prstGeom prst="rect">
            <a:avLst/>
          </a:prstGeom>
        </p:spPr>
      </p:pic>
      <p:pic>
        <p:nvPicPr>
          <p:cNvPr id="16" name="Picture 15">
            <a:extLst>
              <a:ext uri="{FF2B5EF4-FFF2-40B4-BE49-F238E27FC236}">
                <a16:creationId xmlns:a16="http://schemas.microsoft.com/office/drawing/2014/main" id="{EBA41F30-30A8-4FD1-AE68-8EB37350411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745506" y="1981201"/>
            <a:ext cx="4065494" cy="2324100"/>
          </a:xfrm>
          <a:prstGeom prst="rect">
            <a:avLst/>
          </a:prstGeom>
        </p:spPr>
      </p:pic>
      <p:pic>
        <p:nvPicPr>
          <p:cNvPr id="18" name="Picture 17">
            <a:extLst>
              <a:ext uri="{FF2B5EF4-FFF2-40B4-BE49-F238E27FC236}">
                <a16:creationId xmlns:a16="http://schemas.microsoft.com/office/drawing/2014/main" id="{C241B3B7-6B03-49CB-BC46-2B55DAF32955}"/>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6875929" y="4661647"/>
            <a:ext cx="5109882" cy="2008092"/>
          </a:xfrm>
          <a:prstGeom prst="rect">
            <a:avLst/>
          </a:prstGeom>
        </p:spPr>
      </p:pic>
    </p:spTree>
    <p:extLst>
      <p:ext uri="{BB962C8B-B14F-4D97-AF65-F5344CB8AC3E}">
        <p14:creationId xmlns:p14="http://schemas.microsoft.com/office/powerpoint/2010/main" val="2407935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2A36F-6850-42AB-9421-F329799EFAF9}"/>
              </a:ext>
            </a:extLst>
          </p:cNvPr>
          <p:cNvSpPr>
            <a:spLocks noGrp="1"/>
          </p:cNvSpPr>
          <p:nvPr>
            <p:ph type="title"/>
          </p:nvPr>
        </p:nvSpPr>
        <p:spPr>
          <a:xfrm>
            <a:off x="358589" y="950259"/>
            <a:ext cx="10149446" cy="1084729"/>
          </a:xfrm>
        </p:spPr>
        <p:txBody>
          <a:bodyPr/>
          <a:lstStyle/>
          <a:p>
            <a:r>
              <a:rPr lang="en-IN" sz="3600" b="1" dirty="0">
                <a:solidFill>
                  <a:schemeClr val="bg1"/>
                </a:solidFill>
              </a:rPr>
              <a:t>PROFESSIONAL &amp; NARRATIVE FLOW</a:t>
            </a:r>
            <a:br>
              <a:rPr lang="en-IN" sz="3600" b="1" dirty="0">
                <a:solidFill>
                  <a:schemeClr val="bg1"/>
                </a:solidFill>
              </a:rPr>
            </a:br>
            <a:br>
              <a:rPr lang="en-IN" sz="3600" b="1" dirty="0">
                <a:solidFill>
                  <a:srgbClr val="FFFF00"/>
                </a:solidFill>
              </a:rPr>
            </a:br>
            <a:r>
              <a:rPr lang="en-IN" sz="3600" b="1" dirty="0">
                <a:solidFill>
                  <a:srgbClr val="FFFF00"/>
                </a:solidFill>
              </a:rPr>
              <a:t>1</a:t>
            </a:r>
            <a:r>
              <a:rPr lang="en-IN" sz="3200" b="1" dirty="0">
                <a:solidFill>
                  <a:srgbClr val="FFFF00"/>
                </a:solidFill>
              </a:rPr>
              <a:t>.Introduction and project objectives</a:t>
            </a:r>
            <a:br>
              <a:rPr lang="en-IN" sz="3200" b="1" dirty="0">
                <a:solidFill>
                  <a:srgbClr val="FFFF00"/>
                </a:solidFill>
              </a:rPr>
            </a:br>
            <a:r>
              <a:rPr lang="en-IN" sz="3200" b="1" dirty="0">
                <a:solidFill>
                  <a:srgbClr val="FFFF00"/>
                </a:solidFill>
              </a:rPr>
              <a:t>2.Dataset overview &amp; data schema</a:t>
            </a:r>
            <a:br>
              <a:rPr lang="en-IN" sz="3200" b="1" dirty="0">
                <a:solidFill>
                  <a:srgbClr val="FFFF00"/>
                </a:solidFill>
              </a:rPr>
            </a:br>
            <a:r>
              <a:rPr lang="en-IN" sz="3200" b="1" dirty="0">
                <a:solidFill>
                  <a:srgbClr val="FFFF00"/>
                </a:solidFill>
              </a:rPr>
              <a:t>3.Key performance indicators(KPI’s)</a:t>
            </a:r>
            <a:br>
              <a:rPr lang="en-IN" sz="3200" b="1" dirty="0">
                <a:solidFill>
                  <a:srgbClr val="FFFF00"/>
                </a:solidFill>
              </a:rPr>
            </a:br>
            <a:r>
              <a:rPr lang="en-IN" sz="3200" b="1" dirty="0">
                <a:solidFill>
                  <a:srgbClr val="FFFF00"/>
                </a:solidFill>
              </a:rPr>
              <a:t>4.Branch Dashboard architecture</a:t>
            </a:r>
            <a:br>
              <a:rPr lang="en-IN" sz="3200" b="1" dirty="0">
                <a:solidFill>
                  <a:srgbClr val="FFFF00"/>
                </a:solidFill>
              </a:rPr>
            </a:br>
            <a:r>
              <a:rPr lang="en-IN" sz="3200" b="1" dirty="0">
                <a:solidFill>
                  <a:srgbClr val="FFFF00"/>
                </a:solidFill>
              </a:rPr>
              <a:t>5.Conclusions &amp; strategic Insights</a:t>
            </a:r>
            <a:br>
              <a:rPr lang="en-IN" sz="3200" b="1" dirty="0">
                <a:solidFill>
                  <a:srgbClr val="FFFF00"/>
                </a:solidFill>
              </a:rPr>
            </a:br>
            <a:r>
              <a:rPr lang="en-IN" sz="3200" b="1" dirty="0">
                <a:solidFill>
                  <a:srgbClr val="FFFF00"/>
                </a:solidFill>
              </a:rPr>
              <a:t>6.Recommendations &amp; action items</a:t>
            </a:r>
            <a:r>
              <a:rPr lang="en-IN" sz="3600" b="1" dirty="0"/>
              <a:t>	</a:t>
            </a:r>
          </a:p>
        </p:txBody>
      </p:sp>
    </p:spTree>
    <p:extLst>
      <p:ext uri="{BB962C8B-B14F-4D97-AF65-F5344CB8AC3E}">
        <p14:creationId xmlns:p14="http://schemas.microsoft.com/office/powerpoint/2010/main" val="310087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45C2C-3E99-48BE-AE71-BE81808ACB43}"/>
              </a:ext>
            </a:extLst>
          </p:cNvPr>
          <p:cNvSpPr>
            <a:spLocks noGrp="1"/>
          </p:cNvSpPr>
          <p:nvPr>
            <p:ph type="title"/>
          </p:nvPr>
        </p:nvSpPr>
        <p:spPr>
          <a:xfrm>
            <a:off x="242047" y="1272987"/>
            <a:ext cx="9530881" cy="797859"/>
          </a:xfrm>
        </p:spPr>
        <p:txBody>
          <a:bodyPr/>
          <a:lstStyle/>
          <a:p>
            <a:r>
              <a:rPr lang="en-IN" sz="3600" dirty="0">
                <a:solidFill>
                  <a:schemeClr val="bg1"/>
                </a:solidFill>
              </a:rPr>
              <a:t>INTRODUCTION	</a:t>
            </a:r>
            <a:r>
              <a:rPr lang="en-IN" sz="3200" dirty="0"/>
              <a:t>		</a:t>
            </a:r>
            <a:br>
              <a:rPr lang="en-IN" sz="3200" dirty="0"/>
            </a:br>
            <a:br>
              <a:rPr lang="en-IN" sz="3200" dirty="0"/>
            </a:br>
            <a:br>
              <a:rPr lang="en-IN" sz="3200" dirty="0"/>
            </a:br>
            <a:r>
              <a:rPr lang="en-IN" sz="3200" dirty="0">
                <a:solidFill>
                  <a:srgbClr val="FFFF00"/>
                </a:solidFill>
              </a:rPr>
              <a:t>we examine the Insurance Branch analytics dashboard to evaluate key indicators for new sales and policy renewals .By leveraging these metrics branches can make better decisions to maximize operational efficiency.</a:t>
            </a:r>
          </a:p>
        </p:txBody>
      </p:sp>
    </p:spTree>
    <p:extLst>
      <p:ext uri="{BB962C8B-B14F-4D97-AF65-F5344CB8AC3E}">
        <p14:creationId xmlns:p14="http://schemas.microsoft.com/office/powerpoint/2010/main" val="276404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D62EB-C46F-44E4-B24F-3C3D4C59ED96}"/>
              </a:ext>
            </a:extLst>
          </p:cNvPr>
          <p:cNvSpPr>
            <a:spLocks noGrp="1"/>
          </p:cNvSpPr>
          <p:nvPr>
            <p:ph type="title"/>
          </p:nvPr>
        </p:nvSpPr>
        <p:spPr>
          <a:xfrm>
            <a:off x="690282" y="434788"/>
            <a:ext cx="9360552" cy="909918"/>
          </a:xfrm>
        </p:spPr>
        <p:txBody>
          <a:bodyPr/>
          <a:lstStyle/>
          <a:p>
            <a:r>
              <a:rPr lang="en-IN" sz="3600" dirty="0">
                <a:solidFill>
                  <a:schemeClr val="bg1"/>
                </a:solidFill>
              </a:rPr>
              <a:t>PROJECT OBJECTIVE</a:t>
            </a:r>
            <a:br>
              <a:rPr lang="en-IN" sz="1200" dirty="0"/>
            </a:br>
            <a:br>
              <a:rPr lang="en-IN" sz="1200" dirty="0"/>
            </a:br>
            <a:br>
              <a:rPr lang="en-IN" sz="1200" dirty="0"/>
            </a:br>
            <a:br>
              <a:rPr lang="en-IN" sz="1200" dirty="0"/>
            </a:br>
            <a:r>
              <a:rPr lang="en-IN" sz="3200" dirty="0">
                <a:solidFill>
                  <a:srgbClr val="FFFF00"/>
                </a:solidFill>
              </a:rPr>
              <a:t>To empower corporate leaders and branch managers to review branch level performance through a unified data dashboard</a:t>
            </a:r>
            <a:br>
              <a:rPr lang="en-IN" sz="3200" dirty="0">
                <a:solidFill>
                  <a:srgbClr val="FFFF00"/>
                </a:solidFill>
              </a:rPr>
            </a:br>
            <a:br>
              <a:rPr lang="en-IN" sz="3200" dirty="0">
                <a:solidFill>
                  <a:srgbClr val="FFFF00"/>
                </a:solidFill>
              </a:rPr>
            </a:br>
            <a:r>
              <a:rPr lang="en-IN" sz="3200" dirty="0">
                <a:solidFill>
                  <a:srgbClr val="FFFF00"/>
                </a:solidFill>
              </a:rPr>
              <a:t>1.Overall performance</a:t>
            </a:r>
            <a:br>
              <a:rPr lang="en-IN" sz="3200" dirty="0">
                <a:solidFill>
                  <a:srgbClr val="FFFF00"/>
                </a:solidFill>
              </a:rPr>
            </a:br>
            <a:r>
              <a:rPr lang="en-IN" sz="3200" dirty="0">
                <a:solidFill>
                  <a:srgbClr val="FFFF00"/>
                </a:solidFill>
              </a:rPr>
              <a:t>2.Branch Deep –Dive</a:t>
            </a:r>
            <a:br>
              <a:rPr lang="en-IN" sz="3200" dirty="0">
                <a:solidFill>
                  <a:srgbClr val="FFFF00"/>
                </a:solidFill>
              </a:rPr>
            </a:br>
            <a:r>
              <a:rPr lang="en-IN" sz="3200" dirty="0">
                <a:solidFill>
                  <a:srgbClr val="FFFF00"/>
                </a:solidFill>
              </a:rPr>
              <a:t>3.Sales Growth</a:t>
            </a:r>
            <a:br>
              <a:rPr lang="en-IN" sz="3200" dirty="0">
                <a:solidFill>
                  <a:srgbClr val="FFFF00"/>
                </a:solidFill>
              </a:rPr>
            </a:br>
            <a:r>
              <a:rPr lang="en-IN" sz="3200" dirty="0">
                <a:solidFill>
                  <a:srgbClr val="FFFF00"/>
                </a:solidFill>
              </a:rPr>
              <a:t>4.Strategic takeaways</a:t>
            </a:r>
          </a:p>
        </p:txBody>
      </p:sp>
      <p:pic>
        <p:nvPicPr>
          <p:cNvPr id="4" name="Picture 3">
            <a:extLst>
              <a:ext uri="{FF2B5EF4-FFF2-40B4-BE49-F238E27FC236}">
                <a16:creationId xmlns:a16="http://schemas.microsoft.com/office/drawing/2014/main" id="{289A8D4B-17A6-4BA6-900C-9BE2C309411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69963" y="3325906"/>
            <a:ext cx="6193119" cy="3263153"/>
          </a:xfrm>
          <a:prstGeom prst="rect">
            <a:avLst/>
          </a:prstGeom>
        </p:spPr>
      </p:pic>
    </p:spTree>
    <p:extLst>
      <p:ext uri="{BB962C8B-B14F-4D97-AF65-F5344CB8AC3E}">
        <p14:creationId xmlns:p14="http://schemas.microsoft.com/office/powerpoint/2010/main" val="39357362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264</TotalTime>
  <Words>205</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vt:lpstr>
      <vt:lpstr>BRANCH PERFORMANCE OVERVIEW</vt:lpstr>
      <vt:lpstr>TEAM INTRODUCTION </vt:lpstr>
      <vt:lpstr> </vt:lpstr>
      <vt:lpstr>PROFESSIONAL &amp; NARRATIVE FLOW  1.Introduction and project objectives 2.Dataset overview &amp; data schema 3.Key performance indicators(KPI’s) 4.Branch Dashboard architecture 5.Conclusions &amp; strategic Insights 6.Recommendations &amp; action items </vt:lpstr>
      <vt:lpstr>INTRODUCTION      we examine the Insurance Branch analytics dashboard to evaluate key indicators for new sales and policy renewals .By leveraging these metrics branches can make better decisions to maximize operational efficiency.</vt:lpstr>
      <vt:lpstr>PROJECT OBJECTIVE    To empower corporate leaders and branch managers to review branch level performance through a unified data dashboard  1.Overall performance 2.Branch Deep –Dive 3.Sales Growth 4.Strategic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ksand</dc:creator>
  <cp:lastModifiedBy>ksand</cp:lastModifiedBy>
  <cp:revision>15</cp:revision>
  <dcterms:created xsi:type="dcterms:W3CDTF">2026-07-26T11:52:28Z</dcterms:created>
  <dcterms:modified xsi:type="dcterms:W3CDTF">2026-07-26T16:16:43Z</dcterms:modified>
</cp:coreProperties>
</file>